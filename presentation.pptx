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E8EAED"/>
                </a:solidFill>
                <a:latin typeface="Calibri"/>
              </a:rPr>
              <a:t>Система семантического поиска</a:t>
            </a:r>
          </a:p>
          <a:p>
            <a:pPr algn="l"/>
            <a:r>
              <a:rPr sz="4400" b="1">
                <a:solidFill>
                  <a:srgbClr val="E8EAED"/>
                </a:solidFill>
                <a:latin typeface="Calibri"/>
              </a:rPr>
              <a:t>по базе знаний компании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7AA2FF"/>
                </a:solidFill>
                <a:latin typeface="Calibri"/>
              </a:rPr>
              <a:t>MVP • Кейс 09 • Прикладной искусственный интеллект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Calibri"/>
              </a:rPr>
              <a:t>Направление 09.03.03 — Прикладная информатика, 2-й семестр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0A6"/>
                </a:solidFill>
                <a:latin typeface="Calibri"/>
              </a:rPr>
              <a:t>GitHub: github.com/ustyusty/semantic-search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Проблема и актуальность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8EAED"/>
                </a:solidFill>
                <a:latin typeface="Calibri"/>
              </a:rPr>
              <a:t>В любой компании накапливаются сотни регламентов и инструкций.</a:t>
            </a:r>
          </a:p>
          <a:p>
            <a:pPr algn="l"/>
            <a:r>
              <a:rPr sz="2200" b="0">
                <a:solidFill>
                  <a:srgbClr val="E8EAED"/>
                </a:solidFill>
                <a:latin typeface="Calibri"/>
              </a:rPr>
              <a:t>Классический поиск (Ctrl+F) не работает, если сотрудник не знает</a:t>
            </a:r>
          </a:p>
          <a:p>
            <a:pPr algn="l"/>
            <a:r>
              <a:rPr sz="2200" b="0">
                <a:solidFill>
                  <a:srgbClr val="E8EAED"/>
                </a:solidFill>
                <a:latin typeface="Calibri"/>
              </a:rPr>
              <a:t>точного названия документа или термина.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7AA2FF"/>
                </a:solidFill>
                <a:latin typeface="Calibri"/>
              </a:rPr>
              <a:t>Семантический поиск решает это: ищет по смыслу, а не по словам.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Запрос пользователя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«Хочу отдохнуть»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«Что делать если сломался принтер»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«Где поесть»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38912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5262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Найденный документ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9834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«Инструкция: Как оформить отпуск»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«Правила эксплуатации офисной техники»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«Расположение столовой»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Цель и конкретный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E8EAED"/>
                </a:solidFill>
                <a:latin typeface="Calibri"/>
              </a:rPr>
              <a:t>Работающий прототип веб-сервиса для поиска документов</a:t>
            </a:r>
          </a:p>
          <a:p>
            <a:pPr algn="l"/>
            <a:r>
              <a:rPr sz="2200" b="0">
                <a:solidFill>
                  <a:srgbClr val="E8EAED"/>
                </a:solidFill>
                <a:latin typeface="Calibri"/>
              </a:rPr>
              <a:t>по смысловой близости к запросу.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E8EAED"/>
                </a:solidFill>
                <a:latin typeface="Calibri"/>
              </a:rPr>
              <a:t>•  Администратор — загружает документы (текст или PDF) в базу знаний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AED"/>
                </a:solidFill>
                <a:latin typeface="Calibri"/>
              </a:rPr>
              <a:t>•  Пользователь — вводит запрос в свободной форме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AED"/>
                </a:solidFill>
                <a:latin typeface="Calibri"/>
              </a:rPr>
              <a:t>•  Система — возвращает топ-3 наиболее релевантных документа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E8EAED"/>
                </a:solidFill>
                <a:latin typeface="Calibri"/>
              </a:rPr>
              <a:t>•  Без обучения нейросетей с нуля — используется готовая предобученная модель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Стек технологий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657600" cy="49377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Python 3.10+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FastAPI + Uvicorn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asyncpg (async Postgres)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Pydantic для валидации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657600" cy="49377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916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NLP /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sentence-transformers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paraphrase-multilingual-MiniLM-L12-v2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NumPy для матричных операций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pypdf для извлечения текста из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554480"/>
            <a:ext cx="3657600" cy="49377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6916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PostgreSQL 15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Docker Compose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HTTP Basic Auth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Git /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Архитектура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Клиент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Браузер / curl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HTML + JS (vanilla)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01168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148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Сервис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0604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FastAPI (lifespan)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Роуты + Basic Auth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В памяти: NumPy-индекс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201168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21488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Хранилище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60604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PostgreSQL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Таблица documents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embedding DOUBLE[]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A2FF"/>
                </a:solidFill>
                <a:latin typeface="Calibri"/>
              </a:rPr>
              <a:t>Поток поиска: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•  Клиент → GET /api/search?q=… → FastAPI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•  Эмбеддер превращает запрос в вектор (384 dim, normalized)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E8EAED"/>
                </a:solidFill>
                <a:latin typeface="Calibri"/>
              </a:rPr>
              <a:t>•  NumPy: matrix @ query_vec → сортировка → топ-K → 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Как работает семантический поиск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Каждый документ превращается в вектор фиксированной длины (embedding, 384 числа)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Модель paraphrase-multilingual-MiniLM-L12-v2 размещает похожие по смыслу тексты рядом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Близость двух векторов — косинусное сходство: cos(a,b) = (a·b) / (|a|·|b|)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Эмбеддинги нормализованы — косинус = скалярное произведение, одно матричное умножение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Поиск: один вызов matrix @ query_vec находит расстояния до всех документов за миллисекунды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Результат: отсортированный топ-K с оценкой от 0 до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Схема базы данных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3474720"/>
          </a:xfrm>
          <a:prstGeom prst="roundRect">
            <a:avLst>
              <a:gd name="adj" fmla="val 4000"/>
            </a:avLst>
          </a:prstGeom>
          <a:solidFill>
            <a:srgbClr val="181B22"/>
          </a:solidFill>
          <a:ln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6583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0D4DB"/>
                </a:solidFill>
                <a:latin typeface="Consolas"/>
              </a:rPr>
              <a:t>CREATE TABLE documents (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    id          SERIAL PRIMARY KEY,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    title       TEXT NOT NULL,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    content     TEXT NOT NULL,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    block       TEXT,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    embedding   DOUBLE PRECISION[],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    created_at  TIMESTAMP DEFAULT NOW()</a:t>
            </a:r>
          </a:p>
          <a:p>
            <a:r>
              <a:rPr sz="1600">
                <a:solidFill>
                  <a:srgbClr val="D0D4DB"/>
                </a:solidFill>
                <a:latin typeface="Consolas"/>
              </a:rP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AA2FF"/>
                </a:solidFill>
                <a:latin typeface="Calibri"/>
              </a:rPr>
              <a:t>Особенности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01168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•  Embedding в виде массива float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•  При старте всё грузится в NumPy-матрицу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•  Блок — логическая группировка (HR, IT …)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•  Индекс обновляется при каждой вставке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API: публичное и админское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9377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Публичные эндпоинты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GET /  — страница поиска (HTML)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GET /api/search?q=…&amp;k=3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GET /api/documents/count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GET /docs  — Swagger UI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Не требуют авторизации.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Любой пользователь может искать.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49377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0020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Админские эндпоинты (Basic Auth)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GET  /admin  — форма загрузки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POST /api/documents  — JSON {title, content, block}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POST /api/documents/upload  — PDF, multipart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Пароль в .env (ADMIN_USER, ADMIN_PASSWORD).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Без него — 401 Unauthorized.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Интерфейс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Минималистичная страница с поисковой строкой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Запрос на естественном языке — «хочу отдохнуть», «сломался принтер»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Топ-3 документа в виде карточек: заголовок, раздел, фрагмент текста, score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Показ общего количества документов в базе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Счётчик релевантности — для прозрачности качества поиска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A2FF"/>
                </a:solidFill>
                <a:latin typeface="Calibri"/>
              </a:rPr>
              <a:t>URL: http://&lt;host&gt;:8000/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Админка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Вход по HTTP Basic Auth (прямо через браузерный диалог)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Две вкладки загрузки: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    — «Текст»: поля Заголовок, Раздел, Текст документа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    — «PDF-файл»: загрузка PDF (до 15 МБ), парсинг через pypdf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При добавлении эмбеддинг считается автоматически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Индекс обновляется — документ сразу доступен для поиска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E8EAED"/>
                </a:solidFill>
                <a:latin typeface="Calibri"/>
              </a:rPr>
              <a:t>•  PDF без извлекаемого текста (скан без OCR) — вежливо отклоняется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A2FF"/>
                </a:solidFill>
                <a:latin typeface="Calibri"/>
              </a:rPr>
              <a:t>URL: http://&lt;host&gt;:8000/admin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Безопасность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Роли по требованию кейса: только администратор добавляет документы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FastAPI-dependency require_admin подключена к POST-роутам и к /admin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Сравнение пароля через secrets.compare_digest (устойчиво к timing-атакам)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Шаблон admin.html вынесен из static/ — нельзя обойти через прямой URL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Учётные данные — в .env, не в коде и не в git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Обычный пользователь видит только страницу поиска и 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Быстрый старт (из README)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800">
                <a:solidFill>
                  <a:srgbClr val="0B0D12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08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cp .env.example .env  &amp;&amp;  docker compose up -d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800">
                <a:solidFill>
                  <a:srgbClr val="0B0D12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python -m venv .venv &amp;&amp; source .venv/bin/activate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502920" cy="50292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800">
                <a:solidFill>
                  <a:srgbClr val="0B0D12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pip install -r requirements.txt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800">
                <a:solidFill>
                  <a:srgbClr val="0B0D12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uvicorn app.main:app --host 0.0.0.0 --port 8000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800">
                <a:solidFill>
                  <a:srgbClr val="0B0D12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51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Открыть http://localhost:8000  —  поиск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800">
                <a:solidFill>
                  <a:srgbClr val="0B0D12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AED"/>
                </a:solidFill>
                <a:latin typeface="Calibri"/>
              </a:rPr>
              <a:t>Открыть http://localhost:8000/admin  —  загрузка документов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Пример работы поиска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EAED"/>
                </a:solidFill>
                <a:latin typeface="Calibri"/>
              </a:rPr>
              <a:t>Запрос: «хочу отдохнуть»  →  найдено: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0972800" cy="12801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1. Инструкция: Как оформить отпуск   (score 0.29)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Каждый сотрудник имеет право на 28 календарных дней ежегодного оплачиваемого отпуска.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График отпусков утверждается в корпоративной ERP-системе до 15 декабря…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E8EAED"/>
                </a:solidFill>
                <a:latin typeface="Calibri"/>
              </a:rPr>
              <a:t>Запрос: «где поесть»  →  найдено: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972800" cy="1280160"/>
          </a:xfrm>
          <a:prstGeom prst="roundRect">
            <a:avLst>
              <a:gd name="adj" fmla="val 6000"/>
            </a:avLst>
          </a:prstGeom>
          <a:solidFill>
            <a:srgbClr val="181B22"/>
          </a:solidFill>
          <a:ln w="9525"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3484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7AA2FF"/>
                </a:solidFill>
                <a:latin typeface="Calibri"/>
              </a:rPr>
              <a:t>1. Правила пользования кофе-пойнтом   (score 0.41)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8920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Просьба мыть за собой чашки и подписывать контейнеры в холодильнике.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E8EAED"/>
                </a:solidFill>
                <a:latin typeface="Calibri"/>
              </a:rPr>
              <a:t>Слова «поесть» в тексте нет — нашли по смыслу.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Покрытие milestones кейса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68680"/>
          </a:xfrm>
          <a:prstGeom prst="roundRect">
            <a:avLst>
              <a:gd name="adj" fmla="val 25000"/>
            </a:avLst>
          </a:prstGeom>
          <a:solidFill>
            <a:srgbClr val="181B22"/>
          </a:solidFill>
          <a:ln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A2FF"/>
                </a:solidFill>
                <a:latin typeface="Calibri"/>
              </a:rPr>
              <a:t>Показ 1 — данные и стек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Выбор sentence-transformers, документы в 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10698480" cy="868680"/>
          </a:xfrm>
          <a:prstGeom prst="roundRect">
            <a:avLst>
              <a:gd name="adj" fmla="val 25000"/>
            </a:avLst>
          </a:prstGeom>
          <a:solidFill>
            <a:srgbClr val="181B22"/>
          </a:solidFill>
          <a:ln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A2FF"/>
                </a:solidFill>
                <a:latin typeface="Calibri"/>
              </a:rPr>
              <a:t>Показ 2 — админка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POST /api/documents, сохранение в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698480" cy="868680"/>
          </a:xfrm>
          <a:prstGeom prst="roundRect">
            <a:avLst>
              <a:gd name="adj" fmla="val 25000"/>
            </a:avLst>
          </a:prstGeom>
          <a:solidFill>
            <a:srgbClr val="181B22"/>
          </a:solidFill>
          <a:ln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A2FF"/>
                </a:solidFill>
                <a:latin typeface="Calibri"/>
              </a:rPr>
              <a:t>Показ 3 — мозги поиска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Эмбеддинги + косинусное сходство, топ-3 в Swagger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43400"/>
            <a:ext cx="10698480" cy="868680"/>
          </a:xfrm>
          <a:prstGeom prst="roundRect">
            <a:avLst>
              <a:gd name="adj" fmla="val 25000"/>
            </a:avLst>
          </a:prstGeom>
          <a:solidFill>
            <a:srgbClr val="181B22"/>
          </a:solidFill>
          <a:ln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A2FF"/>
                </a:solidFill>
                <a:latin typeface="Calibri"/>
              </a:rPr>
              <a:t>Показ 4 —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Веб-интерфейс, связанный с API поиска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68680"/>
          </a:xfrm>
          <a:prstGeom prst="roundRect">
            <a:avLst>
              <a:gd name="adj" fmla="val 25000"/>
            </a:avLst>
          </a:prstGeom>
          <a:solidFill>
            <a:srgbClr val="181B22"/>
          </a:solidFill>
          <a:ln>
            <a:solidFill>
              <a:srgbClr val="242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7AA2FF"/>
                </a:solidFill>
                <a:latin typeface="Calibri"/>
              </a:rPr>
              <a:t>Финал — тестирование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E8EAED"/>
                </a:solidFill>
                <a:latin typeface="Calibri"/>
              </a:rPr>
              <a:t>README, примеры сложных запросов, презентация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Критерии оценки кейса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E8EAED"/>
                </a:solidFill>
                <a:latin typeface="Calibri"/>
              </a:rPr>
              <a:t>•  Качество поиска (20) — находит по смыслу, не только по совпадению слов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8EAED"/>
                </a:solidFill>
                <a:latin typeface="Calibri"/>
              </a:rPr>
              <a:t>•  Простота развертывания (10) — docker compose up -d + uvicorn, одна команда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8EAED"/>
                </a:solidFill>
                <a:latin typeface="Calibri"/>
              </a:rPr>
              <a:t>•  Интерфейс (10) — минималистичный, две страницы (поиск и админка)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8EAED"/>
                </a:solidFill>
                <a:latin typeface="Calibri"/>
              </a:rPr>
              <a:t>•  Презентация (10) — этот файл</a:t>
            </a:r>
          </a:p>
          <a:p>
            <a:pPr algn="l">
              <a:spcAft>
                <a:spcPts val="800"/>
              </a:spcAft>
            </a:pPr>
            <a:r>
              <a:rPr sz="1900">
                <a:solidFill>
                  <a:srgbClr val="E8EAED"/>
                </a:solidFill>
                <a:latin typeface="Calibri"/>
              </a:rPr>
              <a:t>•  Ответы на вопросы (10) — понимание эмбеддингов и косинусного сходства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7AA2FF"/>
                </a:solidFill>
                <a:latin typeface="Calibri"/>
              </a:rPr>
              <a:t>Ожидаемая оценка: Отлично — поиск работает семантически, UI чистый, код структурирован.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" cy="457200"/>
          </a:xfrm>
          <a:prstGeom prst="rect">
            <a:avLst/>
          </a:prstGeom>
          <a:solidFill>
            <a:srgbClr val="7A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E8EAED"/>
                </a:solidFill>
                <a:latin typeface="Calibri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E8EAED"/>
                </a:solidFill>
                <a:latin typeface="Calibri"/>
              </a:rPr>
              <a:t>MVP системы семантического поиска готов.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Развёрнут на сервере, доступен снаружи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Поддержка загрузки PDF и чистого текста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Разделение ролей: пользователь / администратор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E8EAED"/>
                </a:solidFill>
                <a:latin typeface="Calibri"/>
              </a:rPr>
              <a:t>•  Открытый исходный код на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7AA2FF"/>
                </a:solidFill>
                <a:latin typeface="Calibri"/>
              </a:rPr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